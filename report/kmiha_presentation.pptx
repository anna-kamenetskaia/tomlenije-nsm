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чем и почему" id="{50954d48-4f52-6033-4aa9-abbea199165b}">
          <p14:sldIdLst>
            <p14:sldId id="256"/>
            <p14:sldId id="257"/>
            <p14:sldId id="258"/>
          </p14:sldIdLst>
        </p14:section>
        <p14:section name="Как устроен эксперимент" id="{88c94a3b-101b-12d5-e19d-7b324e7daea3}">
          <p14:sldIdLst>
            <p14:sldId id="259"/>
            <p14:sldId id="260"/>
            <p14:sldId id="261"/>
            <p14:sldId id="262"/>
            <p14:sldId id="263"/>
          </p14:sldIdLst>
        </p14:section>
        <p14:section name="Результаты и выводы" id="{39283390-6ad6-df1e-1b58-5cebc208d667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Сферы в корпусе: доля контекстов, где сфера ведущая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контекстов, %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Любовь и эрос</c:v>
                  </c:pt>
                  <c:pt idx="1">
                    <c:v>Искусство</c:v>
                  </c:pt>
                  <c:pt idx="2">
                    <c:v>Религия</c:v>
                  </c:pt>
                  <c:pt idx="3">
                    <c:v>Нация</c:v>
                  </c:pt>
                  <c:pt idx="4">
                    <c:v>Психология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13.8</c:v>
                </c:pt>
                <c:pt idx="2">
                  <c:v>14.1</c:v>
                </c:pt>
                <c:pt idx="3">
                  <c:v>24.6</c:v>
                </c:pt>
                <c:pt idx="4">
                  <c:v>40.3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Средний балл (0–10), 5 итераций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Nemotron 3 Super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русский</c:v>
                  </c:pt>
                  <c:pt idx="1">
                    <c:v>английский</c:v>
                  </c:pt>
                  <c:pt idx="2">
                    <c:v>иврит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</c:v>
                </c:pt>
                <c:pt idx="1">
                  <c:v>7.8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dots.3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русский</c:v>
                  </c:pt>
                  <c:pt idx="1">
                    <c:v>английский</c:v>
                  </c:pt>
                  <c:pt idx="2">
                    <c:v>иврит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7.8</c:v>
                </c:pt>
                <c:pt idx="2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F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Мой проект — о том, как языковые модели справляются с толкованием одного ивритского слова, כמיהה, на естественном семантическом метаязыке Вежбицкой, и зависит ли результат от языка, на котором мы пишем промпт: русского, английского или иврита.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именно это слово. Я сделала тематическое моделирование своего корпуса — двадцать тысяч контекстов, десять тем, которые складываются в пять сфер: психология, нация, религия, искусство — это рецензии на книги и песни — и любовь. Главное — сорок два процента контекстов смешивают две сферы и больше: чаще всего национальное с психологическим. Сферы подпитывают друг друга. А в одной из тем корпус сам формулирует то, что я потом проверяю у моделей: געגוע — тоска по месту, где ты был, а כמיהה — тяга к месту, которое можно только вообразить. Готового толкования этого слова нет, так что модель не может просто вспомнить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оценить качество и стабильность толкований, которые дают модели, и понять, зависит ли это от языка промпта. Гипотез три. Первая: английский будет лучшим — сам метаязык описан на английском, и данных у моделей там больше всего. Вторая: иврит, язык самого концепта, не поможет, а слабой модели навредит. Третья, лексикографическая: модели увидят, в каких сферах живёт слово, но не смогут отличить его от близких — от געגועים, тоски по тому, что было, и от תשוקה, страсти.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Дизайн. Из корпуса я взяла двадцать четыре контекста — по пять из каждой сферы и четыре смешанных — и подала их модели перемешанными, без меток и всегда на иврите: модель должна сама увидеть многодоменность. Меняется только язык инструкции и списка примитивов. Две модели, три языка, по пять повторов — тридцать толкований. Дальше слепая оценка по пяти критериям и подсчёт среднего и стандартного отклонения.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Промпт. Каждый блок — отдельная техника: роль задаёт жанр, корпусные контексты заземляют толкование на употреблении, список примитивов — проверяемое ограничение словаря, шаблон Вежбицкой задаёт форму, пошаговая инструкция заставляет сначала увидеть сферы, а JSON позволяет разбирать ответы кодом. Важное решение: я не дала готового примера вроде «тоски» — иначе модель копировала бы близкое слово, а именно различие я и хотела измерить.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Запросы шли через OpenRouter из Colab. Аргумент методический: все модели получают одинаковый запрос с одинаковыми параметрами, отличается только имя модели. У API разных провайдеров параметры работают по-разному, и это была бы посторонняя переменная. Плюс бесплатные модели — эксперимент может повторить кто угодно. Я хотела модели разного происхождения; пилот прошли две из пяти: американская Nemotron от NVIDIA и китайская dots.3.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Оценка. Пять критериев по два балла, максимум десять. Первый — только ли примитивы использованы — проверял алгоритм: каждое слово сверялось со списком, грамматику я смотрела вручную. Остальные четыре — экспертная оценка: схвачено ли ядро, видно ли отличие от соседних слов, охвачены ли сферы, соблюдён ли сценарий. Оценка слепая: я видела только коды, не названия моделей. Потом для каждой модели и каждого языка — среднее как качество и стандартное отклонение как стабильность.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Ход эксперимента. После пилота — пробный прогон и первая находка: одиннадцать ответов из тридцати пустые, почти все у dots.3, потому что модель тратит весь лимит на «рассуждение». Я доработала протокол — повтор пустого ответа, удвоенный лимит, автосохранение — и прогнала все тридцать запросов заново, чтобы данные были получены по одному протоколу: двадцать девять ответов и один отказ.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Результаты. Английский промпт оказался лучшим для обеих моделей — семь и восемь десятых балла из десяти, и с самым маленьким разбросом. Русский — шесть и семь, иврит — около четырёх с огромным разбросом. На иврите модели расходятся: Nemotron держится на уровне русского, а dots.3 проваливается — один отказ и четыре ответа-каши. По правилу задания — среднее выше, отклонение ниже — побеждает Nemotron: шесть и семь против пяти и пяти, и разброс вдвое меньше.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критериям картина ещё интереснее. Сферы модели видят хорошо: национальную и религиозную назвали почти все ответы. А вот отличить כמיהה от соседних слов не смог никто — это самый слабый критерий у всех. Толкование почти всегда сводится к формуле «хочу того, чего нет, и мне плохо» — это толкование желания вообще. И эротическую сферу модели называют редко и смягчают до «близости». То есть многодоменность они замечают, но выравнивают её.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именно ошибаются модели. Dots на иврите буквально распадается: смесь иврита, английского и китайского, или ответ латинской транслитерацией. Обе модели протаскивают слова не из списка — «важно», «но», «feeling». Примитивы берутся в словарной форме без грамматики: «у меня не есть», «אני רצה». Отчасти это наш промах: в ивритском списке глаголы даны в прошедшем времени. И содержательная ошибка — сползание в געגועים, тоску по прошлому, вместо устремлённости к тому, чего ещё не было.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Выводы. Первая гипотеза подтвердилась: для задач в метаязыке NSM промптить лучше на английском, даже когда само слово и контексты на другом языке. Вторая — частично: иврит ни одной модели не помог, но вредит он по-разному в зависимости от модели. Третья подтвердилась: модели хорошо видят сферы, но дают толкование желания вообще, а тонкое различие — כמיהה против געגועים — пока остаётся работой лексикографа. Практически: проверять язык ответа, давать примитивы в канонических предложениях, а не списком, и попробовать контрастивный промпт. Ограничения — две модели, пять повторов и один эксперт.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DC3F2"/>
                </a:solidFill>
              </a:rPr>
              <a:t>ПРОЕКТ ПО ПРОМПТ-ИНЖИНИРИНГУ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כמיהה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в метаязыке NSM: как языковые модели толкуют многослойное слово на русском, английском и иврите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FDB"/>
                </a:solidFill>
              </a:rPr>
              <a:t>[Имя Фамилия] · НИУ ВШЭ, «Введение в промпт-инжиниринг»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Почему כמיהה: одно слово — много миров</a:t>
            </a:r>
            <a:endParaRPr lang="en-US" sz="3600" dirty="0"/>
          </a:p>
        </p:txBody>
      </p:sp>
      <p:graphicFrame>
        <p:nvGraphicFramePr>
          <p:cNvPr id="3" name="spheres-chart" descr=""/>
          <p:cNvGraphicFramePr/>
          <p:nvPr/>
        </p:nvGraphicFramePr>
        <p:xfrm>
          <a:off x="548640" y="14173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42%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560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контекстов смешивают две сферы и больше: нация с психологией, искусство с психологией, психология с религией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7772400" y="4069080"/>
            <a:ext cx="38404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42062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5060"/>
                </a:solidFill>
              </a:rPr>
              <a:t>«Не может быть געגוע по месту, где ты не был… כמיהה — к месту, которое можно вообразить»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80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0"/>
                </a:solidFill>
              </a:rPr>
              <a:t>Тематическое моделирование: NMF по TF-IDF, 20 415 контекстов, 10 тем (лучшая когерентность NPMI), сведённые в 5 сфер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Цель и гипотезы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Цель: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оценить качество (среднее) и стабильность (стандартное отклонение) NSM-толкований כמיהה у языковых моделей при промпте на русском, английском и иврите.</a:t>
            </a:r>
            <a:endParaRPr lang="en-US" sz="2000" dirty="0"/>
          </a:p>
        </p:txBody>
      </p:sp>
      <p:sp>
        <p:nvSpPr>
          <p:cNvPr id="4" name="hyp-dot"/>
          <p:cNvSpPr/>
          <p:nvPr/>
        </p:nvSpPr>
        <p:spPr>
          <a:xfrm>
            <a:off x="548640" y="25146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5603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Английский промпт даст лучшие и самые стабильные толкования: NSM описан на английском, и английских данных у моделей больше всего.</a:t>
            </a:r>
            <a:endParaRPr lang="en-US" sz="1800" dirty="0"/>
          </a:p>
        </p:txBody>
      </p:sp>
      <p:sp>
        <p:nvSpPr>
          <p:cNvPr id="7" name="hyp-dot"/>
          <p:cNvSpPr/>
          <p:nvPr/>
        </p:nvSpPr>
        <p:spPr>
          <a:xfrm>
            <a:off x="548640" y="37033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749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Промпт на языке самого концепта — иврите — не поможет, а у модели со слабым ивритом ухудшит результат.</a:t>
            </a:r>
            <a:endParaRPr lang="en-US" sz="1800" dirty="0"/>
          </a:p>
        </p:txBody>
      </p:sp>
      <p:sp>
        <p:nvSpPr>
          <p:cNvPr id="10" name="hyp-dot"/>
          <p:cNvSpPr/>
          <p:nvPr/>
        </p:nvSpPr>
        <p:spPr>
          <a:xfrm>
            <a:off x="548640" y="4892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892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937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Модели увидят все сферы употребления, но не отделят כמיהה от соседей: געגועים (тоска по бывшему) и תשוקה (страсть).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Дизайн: 2 модели × 3 языка × 5 итераций</a:t>
            </a:r>
            <a:endParaRPr lang="en-US" sz="3600" dirty="0"/>
          </a:p>
        </p:txBody>
      </p:sp>
      <p:pic>
        <p:nvPicPr>
          <p:cNvPr id="3" name="design-scheme" descr="Схема дизайна: корпус, выборка 24 контекстов, промпт на трёх языках, две модели, 30 ответов, слепая оценка по пяти критериям, анали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824" y="1325880"/>
            <a:ext cx="8138160" cy="51572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Промпт: шесть блоков, у каждого своя задача</a:t>
            </a:r>
            <a:endParaRPr lang="en-US" sz="3600" dirty="0"/>
          </a:p>
        </p:txBody>
      </p:sp>
      <p:graphicFrame>
        <p:nvGraphicFramePr>
          <p:cNvPr id="6" name="promp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Блок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Техника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Зачем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Роль: специалист по NSM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role prompting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жанр ответа — толкование, а не перевод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24 контекста из корпуса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заземление на данных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толкование по употреблению, а не по памяти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65 примитивов на языке промпта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ограничение словаря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проверяемое требование → критерий К1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Шаблон сценария Вежбицкой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шаблон вместо примера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форма без подсказки содержания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Шаги: сферы → общее → проверка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chain-of-thought + self-check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сначала увидеть сферы, потом обобщить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Только JSON: spheres + explication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структурированный вывод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автоматический разбор; сферы → К4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060"/>
                </a:solidFill>
              </a:rPr>
              <a:t>Три версии — точные переводы друг друга. Готовое толкование «тоски» как пример </a:t>
            </a:r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сознательно не дано</a:t>
            </a:r>
            <a:pPr indent="0" marL="0">
              <a:buNone/>
            </a:pPr>
            <a:r>
              <a:rPr lang="en-US" sz="1700" dirty="0">
                <a:solidFill>
                  <a:srgbClr val="4A5060"/>
                </a:solidFill>
              </a:rPr>
              <a:t>: модель стала бы копировать близкий концепт.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Модели и инструмент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OpenRouter API + Colab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Одинаковые условия: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один запрос, одна температура (0,7), один формат — меняется только имя модели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Воспроизводимость: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бесплатные версии, ID зафиксированы в коде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Разное происхождение: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американская и китайская модели через одну точку доступа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Отбор: 2 из 5 кандидатов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6355080" y="224028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8" name="model-dot"/>
          <p:cNvSpPr/>
          <p:nvPr/>
        </p:nvSpPr>
        <p:spPr>
          <a:xfrm>
            <a:off x="6583680" y="246888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Nemotron 3 Super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·  NVIDIA, США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6355080" y="32004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1" name="model-dot"/>
          <p:cNvSpPr/>
          <p:nvPr/>
        </p:nvSpPr>
        <p:spPr>
          <a:xfrm>
            <a:off x="6583680" y="342900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3200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dots.3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·  Xiaohongshu, Китай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29768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60"/>
                </a:solidFill>
              </a:rPr>
              <a:t>Отсеяны: Gemma 4 — перегружена; Inkling — закрыта для API; Xing 4 — 10 минут на ответ и искажённая кириллица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Оценка: 5 критериев × 0–2 балла, вслепую</a:t>
            </a:r>
            <a:endParaRPr lang="en-US" sz="3600" dirty="0"/>
          </a:p>
        </p:txBody>
      </p:sp>
      <p:graphicFrame>
        <p:nvGraphicFramePr>
          <p:cNvPr id="8" name="scal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</a:rPr>
                        <a:t>Критерий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</a:rPr>
                        <a:t>2 балла — это…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</a:rPr>
                        <a:t>Кто оценивает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К1 Примитивы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только слова из списка, грамматика верна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алгоритм + ручная проверка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К2 Ядро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хочет того, чего нет, далёкого или недостижимого; долго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эксперт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К3 Различение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видно отличие от געגועים и תשוקה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эксперт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К4 Сферы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толкование общее для всех сфер, сферы названы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эксперт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К5 Сценарий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сценарий Вежбицкой, короткие строки, чистый JSON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30"/>
                          </a:solidFill>
                        </a:rPr>
                        <a:t>эксперт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Ответы перемешаны и скрыты за кодами T01–T30.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Среднее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= качество,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стандартное отклонение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= стабильность.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Ход эксперимента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066544" cy="27432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4" name="step-dot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Пилот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0"/>
                </a:solidFill>
              </a:rPr>
              <a:t>по запросу к каждому кандидату; 2 модели из 5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798064" y="1463040"/>
            <a:ext cx="2066544" cy="27432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9" name="step-dot"/>
          <p:cNvSpPr/>
          <p:nvPr/>
        </p:nvSpPr>
        <p:spPr>
          <a:xfrm>
            <a:off x="3026664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266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Пробный прогон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0"/>
                </a:solidFill>
              </a:rPr>
              <a:t>11 из 30 ответов пустые: модели тратят лимит на «рассуждение»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047488" y="1463040"/>
            <a:ext cx="2066544" cy="27432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4" name="step-dot"/>
          <p:cNvSpPr/>
          <p:nvPr/>
        </p:nvSpPr>
        <p:spPr>
          <a:xfrm>
            <a:off x="527608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Доработка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0"/>
                </a:solidFill>
              </a:rPr>
              <a:t>повтор пустого ответа, лимит 8000 → 16000 токенов, автосохранение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7296912" y="1463040"/>
            <a:ext cx="2066544" cy="27432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9" name="step-dot"/>
          <p:cNvSpPr/>
          <p:nvPr/>
        </p:nvSpPr>
        <p:spPr>
          <a:xfrm>
            <a:off x="7525512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2551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25512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Основной прогон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0"/>
                </a:solidFill>
              </a:rPr>
              <a:t>все 30 заново, ~1,5 часа: 29 ответов, 1 отказ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9546336" y="1463040"/>
            <a:ext cx="2066544" cy="27432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4" name="step-dot"/>
          <p:cNvSpPr/>
          <p:nvPr/>
        </p:nvSpPr>
        <p:spPr>
          <a:xfrm>
            <a:off x="977493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7493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74936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Оценка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0"/>
                </a:solidFill>
              </a:rPr>
              <a:t>К1 алгоритмом, К2–К5 вслепую, статистика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Пробный прогон в анализ не вошёл: все итоговые данные получены по одному протоколу.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Английский — лучше и стабильнее</a:t>
            </a:r>
            <a:endParaRPr lang="en-US" sz="3600" dirty="0"/>
          </a:p>
        </p:txBody>
      </p:sp>
      <p:graphicFrame>
        <p:nvGraphicFramePr>
          <p:cNvPr id="3" name="results-chart" descr=""/>
          <p:cNvGraphicFramePr/>
          <p:nvPr/>
        </p:nvGraphicFramePr>
        <p:xfrm>
          <a:off x="548640" y="13258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resul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1732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RU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HE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Nemotron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6,4 ± 1,7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7,8 ± 0,8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6,0 ± 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dots.3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7,0 ± 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7,8 ± 0,8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1,8 ± 1,8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0"/>
                </a:solidFill>
              </a:rPr>
              <a:t>среднее ± стандартное отклонение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3246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 двум моделям: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7,8 ± 0,8 · RU 6,7 ± 1,4 · HE 3,9 ± 2,6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4206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060"/>
                </a:solidFill>
              </a:rPr>
              <a:t>Победитель по правилу задания — </a:t>
            </a:r>
            <a:pPr indent="0" marL="0">
              <a:buNone/>
            </a:pPr>
            <a:r>
              <a:rPr lang="en-US" sz="1600" b="1" dirty="0">
                <a:solidFill>
                  <a:srgbClr val="4A5060"/>
                </a:solidFill>
              </a:rPr>
              <a:t>Nemotron</a:t>
            </a:r>
            <a:pPr indent="0" marL="0">
              <a:buNone/>
            </a:pPr>
            <a:r>
              <a:rPr lang="en-US" sz="1600" dirty="0">
                <a:solidFill>
                  <a:srgbClr val="4A5060"/>
                </a:solidFill>
              </a:rPr>
              <a:t>: 6,7 ± 1,4 против 5,5 ± 3,0 у dots.3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Сферы видят, различия — нет</a:t>
            </a:r>
            <a:endParaRPr lang="en-US" sz="3600" dirty="0"/>
          </a:p>
        </p:txBody>
      </p:sp>
      <p:graphicFrame>
        <p:nvGraphicFramePr>
          <p:cNvPr id="11" name="criteri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143000"/>
                <a:gridCol w="1143000"/>
                <a:gridCol w="1143000"/>
                <a:gridCol w="1143000"/>
                <a:gridCol w="1143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Модель · язык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К1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примитивы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К2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ядро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К3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различение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К4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сферы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К5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</a:rPr>
                        <a:t>сценарий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Nemotron · русский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Nemotron · английский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Nemotron · иврит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dots.3 · русский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dots.3 · английский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1,2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BA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dots.3 · иврит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</a:rPr>
                        <a:t>0,8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0"/>
                </a:solidFill>
              </a:rPr>
              <a:t>Средний балл по критерию, 0–2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417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К4 сферы: 1,8–2,0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(кроме dots.3 на иврите). Национальную и религиозную назвали в 27 ответах из 29.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651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К3 различение: 0–1,2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самый слабый критерий у всех.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886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Эрос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назван лишь в 9 из 29 ответов и смягчён до «близости».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ошибаются модели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Распад на иврите · dots.3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60"/>
                </a:solidFill>
              </a:rPr>
              <a:t>«maximum Merge something רע», «מישהו הFeel Something» с китайскими вставками; транслитерация «Mishehu Margish mashehu ra»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72200" y="1417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Слова не из списка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945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60"/>
                </a:solidFill>
              </a:rPr>
              <a:t>«важно», «нужно», «но», «feeling», «thought» — К1 нигде не выше 1,2 из 2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886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Примитивы без грамматики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60"/>
                </a:solidFill>
              </a:rPr>
              <a:t>«у меня не есть», «NOT THIS BE MINE», «אני רצה», «לא יש» — словарная форма без склонения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72200" y="36576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886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Сползание в געגועים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434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060"/>
                </a:solidFill>
              </a:rPr>
              <a:t>«кто-то хочет вернуться к чему-то», «it was not here for a long time» — тоска по прошлому вместо устремлённости вперёд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0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Выводы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DC3F2"/>
                </a:solidFill>
              </a:rPr>
              <a:t>Г1 подтвердилась.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Для NSM-задач промптить лучше на английском, даже если концепт и контексты на другом языке.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DC3F2"/>
                </a:solidFill>
              </a:rPr>
              <a:t>Г2 — частично.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Иврит не улучшил ничего; у dots.3 — провал, у Nemotron — на уровне русского.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DC3F2"/>
                </a:solidFill>
              </a:rPr>
              <a:t>Г3 подтвердилась.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Модели видят сферы, но дают толкование «желания вообще»: различие כמיהה и געגועים пока делает человек.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Что дальше: </a:t>
            </a:r>
            <a:pPr indent="0" marL="0">
              <a:buNone/>
            </a:pPr>
            <a:r>
              <a:rPr lang="en-US" sz="1600" dirty="0">
                <a:solidFill>
                  <a:srgbClr val="C9CFDB"/>
                </a:solidFill>
              </a:rPr>
              <a:t>проверять язык ответа; давать примитивы в канонических предложениях, а не списком; контрастивный промпт «чем כמיהה отличается от געגועים». Ограничения: 2 модели, 5 итераций, один эксперт.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731520" y="35661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miha">
  <a:themeElements>
    <a:clrScheme name="Kmiha">
      <a:dk1>
        <a:srgbClr val="1F2430"/>
      </a:dk1>
      <a:lt1>
        <a:srgbClr val="FFFFFF"/>
      </a:lt1>
      <a:dk2>
        <a:srgbClr val="1F2A44"/>
      </a:dk2>
      <a:lt2>
        <a:srgbClr val="F4F6FA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Kmih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כמיהה в метаязыке NSM</dc:title>
  <dc:subject>PptxGenJS Presentation</dc:subject>
  <dc:creator>PptxGenJS</dc:creator>
  <cp:lastModifiedBy>PptxGenJS</cp:lastModifiedBy>
  <cp:revision>1</cp:revision>
  <dcterms:created xsi:type="dcterms:W3CDTF">2026-10-22T10:04:15Z</dcterms:created>
  <dcterms:modified xsi:type="dcterms:W3CDTF">2026-10-22T10:04:15Z</dcterms:modified>
</cp:coreProperties>
</file>